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56" r:id="rId2"/>
  </p:sldIdLst>
  <p:sldSz cx="43891200" cy="329184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983"/>
    <p:restoredTop sz="88562"/>
  </p:normalViewPr>
  <p:slideViewPr>
    <p:cSldViewPr snapToGrid="0">
      <p:cViewPr>
        <p:scale>
          <a:sx n="35" d="100"/>
          <a:sy n="35" d="100"/>
        </p:scale>
        <p:origin x="1576" y="-1216"/>
      </p:cViewPr>
      <p:guideLst/>
    </p:cSldViewPr>
  </p:slideViewPr>
  <p:notesTextViewPr>
    <p:cViewPr>
      <p:scale>
        <a:sx n="60" d="100"/>
        <a:sy n="6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AE5C6-9182-044E-AD8C-2375125C7A2A}" type="datetimeFigureOut">
              <a:rPr lang="en-US" smtClean="0"/>
              <a:t>7/7/25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02DCA-DE1F-044D-97BD-2354A2DAEF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36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213344" rtl="0" eaLnBrk="1" latinLnBrk="0" hangingPunct="1">
      <a:defRPr sz="5529" kern="1200">
        <a:solidFill>
          <a:schemeClr val="tx1"/>
        </a:solidFill>
        <a:latin typeface="+mn-lt"/>
        <a:ea typeface="+mn-ea"/>
        <a:cs typeface="+mn-cs"/>
      </a:defRPr>
    </a:lvl1pPr>
    <a:lvl2pPr marL="2106672" algn="l" defTabSz="4213344" rtl="0" eaLnBrk="1" latinLnBrk="0" hangingPunct="1">
      <a:defRPr sz="5529" kern="1200">
        <a:solidFill>
          <a:schemeClr val="tx1"/>
        </a:solidFill>
        <a:latin typeface="+mn-lt"/>
        <a:ea typeface="+mn-ea"/>
        <a:cs typeface="+mn-cs"/>
      </a:defRPr>
    </a:lvl2pPr>
    <a:lvl3pPr marL="4213344" algn="l" defTabSz="4213344" rtl="0" eaLnBrk="1" latinLnBrk="0" hangingPunct="1">
      <a:defRPr sz="5529" kern="1200">
        <a:solidFill>
          <a:schemeClr val="tx1"/>
        </a:solidFill>
        <a:latin typeface="+mn-lt"/>
        <a:ea typeface="+mn-ea"/>
        <a:cs typeface="+mn-cs"/>
      </a:defRPr>
    </a:lvl3pPr>
    <a:lvl4pPr marL="6320017" algn="l" defTabSz="4213344" rtl="0" eaLnBrk="1" latinLnBrk="0" hangingPunct="1">
      <a:defRPr sz="5529" kern="1200">
        <a:solidFill>
          <a:schemeClr val="tx1"/>
        </a:solidFill>
        <a:latin typeface="+mn-lt"/>
        <a:ea typeface="+mn-ea"/>
        <a:cs typeface="+mn-cs"/>
      </a:defRPr>
    </a:lvl4pPr>
    <a:lvl5pPr marL="8426689" algn="l" defTabSz="4213344" rtl="0" eaLnBrk="1" latinLnBrk="0" hangingPunct="1">
      <a:defRPr sz="5529" kern="1200">
        <a:solidFill>
          <a:schemeClr val="tx1"/>
        </a:solidFill>
        <a:latin typeface="+mn-lt"/>
        <a:ea typeface="+mn-ea"/>
        <a:cs typeface="+mn-cs"/>
      </a:defRPr>
    </a:lvl5pPr>
    <a:lvl6pPr marL="10533361" algn="l" defTabSz="4213344" rtl="0" eaLnBrk="1" latinLnBrk="0" hangingPunct="1">
      <a:defRPr sz="5529" kern="1200">
        <a:solidFill>
          <a:schemeClr val="tx1"/>
        </a:solidFill>
        <a:latin typeface="+mn-lt"/>
        <a:ea typeface="+mn-ea"/>
        <a:cs typeface="+mn-cs"/>
      </a:defRPr>
    </a:lvl6pPr>
    <a:lvl7pPr marL="12640033" algn="l" defTabSz="4213344" rtl="0" eaLnBrk="1" latinLnBrk="0" hangingPunct="1">
      <a:defRPr sz="5529" kern="1200">
        <a:solidFill>
          <a:schemeClr val="tx1"/>
        </a:solidFill>
        <a:latin typeface="+mn-lt"/>
        <a:ea typeface="+mn-ea"/>
        <a:cs typeface="+mn-cs"/>
      </a:defRPr>
    </a:lvl7pPr>
    <a:lvl8pPr marL="14746705" algn="l" defTabSz="4213344" rtl="0" eaLnBrk="1" latinLnBrk="0" hangingPunct="1">
      <a:defRPr sz="5529" kern="1200">
        <a:solidFill>
          <a:schemeClr val="tx1"/>
        </a:solidFill>
        <a:latin typeface="+mn-lt"/>
        <a:ea typeface="+mn-ea"/>
        <a:cs typeface="+mn-cs"/>
      </a:defRPr>
    </a:lvl8pPr>
    <a:lvl9pPr marL="16853378" algn="l" defTabSz="4213344" rtl="0" eaLnBrk="1" latinLnBrk="0" hangingPunct="1">
      <a:defRPr sz="552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02DCA-DE1F-044D-97BD-2354A2DAEF2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211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3917B-F8B2-11AD-C6F5-881E0946A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D317-00DC-4A6E-7506-721B976FF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D077B-658F-B456-2D0F-B0732D31B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D58F1-F71D-EF5B-760E-30DBAE13A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6391A-5CBF-BA96-3E14-C4DCC5E87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678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7A178-2197-5607-6BA8-4BD7FB7BE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F39B8-71DE-6938-781C-632073FB3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3F062-54BA-92C4-8B0F-F21278FB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DE9D3-57A8-8DB8-F8F2-E5101CD1A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BED4E-36DE-9565-A409-91982CE3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104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3C7F-E420-06A5-48B4-7E21C8E54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E86B2-42B9-78FF-C4E2-9F29CD757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EC5F7-7038-630D-B07A-A2948A0C0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CBE16-80AF-5AF7-1B11-C2560D998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D8B59-3521-A161-F60B-4F5B0B43E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661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8C3C5-CBF6-7025-7E10-B2E4067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F7FF6-AB88-1B89-45A6-7649E005C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83AFA-D6B1-93AC-5D42-FA0FCA744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5348A-2ADB-6644-D9E9-8EBF6BEF5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7/7/25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088A4-8C76-4AC5-338F-01A12A6B7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A931B-1B01-F5E4-7188-9D1864919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639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5606B-0469-ED7A-DFC9-4C21B3A76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4568E-4755-4A01-55F3-E9EA2D21A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39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591E3-3DC8-4DC4-247F-F361E0435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39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17096D-1078-A3F1-39C3-0E5CB9921F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8AC30-1911-D427-4AB7-657E345D42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FD3FD5-5993-12C8-FAF7-1ED4C386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7/7/25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2FF6C0-5C58-5F4A-1525-19979641A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9942AB-6B79-567C-6DF6-10E2B251A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64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C4ED-6DCE-70ED-5D7F-A3AF461DB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EC89-E55F-5CD9-80D5-7CC67E0B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7534-AAB7-DA88-9CC3-F3C4EFF5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2ACE1-B662-7390-22C3-850E6D674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163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478F17-E460-42D1-4250-AAB38CAF4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7/7/25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D0A655-036E-8F3F-B888-9BFE7834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5A091-CFDD-2B0C-C97E-10230089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192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EBD1-94CA-C6E5-3BA6-2734EC46D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9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4302B-0184-C73D-98D3-7874D373D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17C35D-CBD5-58C5-3C28-C4AE6DF19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39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150E4-6174-1295-2D6E-FDBEB59E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7/7/25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2015B-7EE0-6FEC-009D-1B23000D8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ABED7-8927-4109-A071-55DA1CE8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42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02780-AD8F-2973-6704-50F880AAC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9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37E042-78D2-9D68-C17A-E39B30E32D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23DE8-F4E4-79DE-303D-49630984A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39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15F7B-724C-96C0-A944-3B42454AF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7/7/25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097A5-5DC7-5E43-8611-5CE087521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4E2AE-54A4-42BB-9F68-6AE9A92F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001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D243A-64CD-7959-C9FD-24DEF37E2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142A8-E039-E0D2-9EC1-80B0020DD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FAE95-D0DB-C9D1-0E5B-89018D851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1B419-1048-60C9-26A4-C1D17B48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5E780-7A14-46D2-27FE-7C54CF68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328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3EEA1-A0BC-2E8C-0BB1-27B9D335F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215E5-825B-4CB6-16AD-4362D2085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E9405-D4BE-242E-9696-6D3097713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6A96A-4116-994A-9388-D54677451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05651-93B5-FA23-E695-408D8C6FF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404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4EBCBC-67D8-6E17-222D-9A463FDA5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DDE29-7220-03C1-80D0-0ED568C1A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36E80-ABFA-8E6F-457B-7A0FDDF089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7/7/25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18062-570E-AFFF-250A-F4445EC374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47055-406F-9181-EFD0-F5A419317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088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tatlearning.com/" TargetMode="External"/><Relationship Id="rId13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hyperlink" Target="mailto:pbeduose@syr.edu" TargetMode="Externa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Colorful patterns on the sky">
            <a:extLst>
              <a:ext uri="{FF2B5EF4-FFF2-40B4-BE49-F238E27FC236}">
                <a16:creationId xmlns:a16="http://schemas.microsoft.com/office/drawing/2014/main" id="{9CDBDA4B-F26C-4298-B04E-79E60C8964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</a:blip>
          <a:srcRect r="11000"/>
          <a:stretch/>
        </p:blipFill>
        <p:spPr>
          <a:xfrm>
            <a:off x="-30606" y="-98327"/>
            <a:ext cx="44029855" cy="330167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6D732-4939-046E-34B5-AA975DA6D983}"/>
              </a:ext>
            </a:extLst>
          </p:cNvPr>
          <p:cNvSpPr txBox="1"/>
          <p:nvPr/>
        </p:nvSpPr>
        <p:spPr>
          <a:xfrm>
            <a:off x="0" y="251463"/>
            <a:ext cx="4259129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0" i="0" u="none" strike="noStrike" dirty="0">
                <a:solidFill>
                  <a:srgbClr val="7030A0"/>
                </a:solidFill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		                            				     	</a:t>
            </a:r>
            <a:r>
              <a:rPr lang="en-US" sz="6600" dirty="0">
                <a:solidFill>
                  <a:srgbClr val="7030A0"/>
                </a:solidFill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                </a:t>
            </a:r>
            <a:r>
              <a:rPr lang="en-US" sz="6600" b="1" dirty="0">
                <a:solidFill>
                  <a:srgbClr val="7030A0"/>
                </a:solidFill>
                <a:latin typeface="Söhne"/>
                <a:cs typeface="Adelle Sans Devanagari" panose="02000503000000020004" pitchFamily="2" charset="-78"/>
              </a:rPr>
              <a:t>Latent</a:t>
            </a:r>
            <a:r>
              <a:rPr lang="en-US" sz="6600" b="1" i="0" u="none" strike="noStrike" dirty="0">
                <a:solidFill>
                  <a:srgbClr val="7030A0"/>
                </a:solidFill>
                <a:effectLst/>
                <a:latin typeface="Söhne"/>
              </a:rPr>
              <a:t> Profile Analysis</a:t>
            </a:r>
            <a:r>
              <a:rPr lang="en-US" sz="6600" b="1" dirty="0">
                <a:solidFill>
                  <a:srgbClr val="7030A0"/>
                </a:solidFill>
                <a:latin typeface="Söhne"/>
              </a:rPr>
              <a:t> </a:t>
            </a:r>
            <a:r>
              <a:rPr lang="en-US" sz="6600" b="1" i="0" u="none" strike="noStrike" dirty="0">
                <a:solidFill>
                  <a:srgbClr val="7030A0"/>
                </a:solidFill>
                <a:effectLst/>
                <a:latin typeface="Söhne"/>
              </a:rPr>
              <a:t>on Gestational Age </a:t>
            </a:r>
            <a:r>
              <a:rPr lang="en-US" sz="6600" dirty="0">
                <a:solidFill>
                  <a:srgbClr val="7030A0"/>
                </a:solidFill>
              </a:rPr>
              <a:t>			</a:t>
            </a:r>
            <a:r>
              <a:rPr lang="en-US" sz="2800" b="1" dirty="0"/>
              <a:t>												</a:t>
            </a:r>
          </a:p>
          <a:p>
            <a:r>
              <a:rPr lang="en-US" sz="2800" b="1" dirty="0"/>
              <a:t>	                                                 								                  </a:t>
            </a:r>
            <a:r>
              <a:rPr lang="en-US" sz="3200" b="1" dirty="0"/>
              <a:t>Paul Bedu-Osei Jr.   </a:t>
            </a:r>
            <a:r>
              <a:rPr lang="en-US" sz="3200" b="1" dirty="0">
                <a:hlinkClick r:id="rId4"/>
              </a:rPr>
              <a:t>pbeduose@syr.edu</a:t>
            </a:r>
            <a:r>
              <a:rPr lang="en-US" sz="3200" b="1" dirty="0"/>
              <a:t>; Department of Mathematics, Syracuse University.</a:t>
            </a:r>
          </a:p>
          <a:p>
            <a:r>
              <a:rPr lang="en-US" sz="6600" dirty="0"/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890DA6-F511-8668-384E-4D044479B36B}"/>
              </a:ext>
            </a:extLst>
          </p:cNvPr>
          <p:cNvSpPr txBox="1"/>
          <p:nvPr/>
        </p:nvSpPr>
        <p:spPr>
          <a:xfrm>
            <a:off x="299921" y="12027216"/>
            <a:ext cx="8716201" cy="886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			</a:t>
            </a:r>
          </a:p>
          <a:p>
            <a:r>
              <a:rPr lang="en-US" sz="1800" dirty="0"/>
              <a:t>     				           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 </a:t>
            </a:r>
            <a:r>
              <a:rPr lang="en-US" sz="4000" b="1" u="sng" dirty="0">
                <a:latin typeface="Söhne"/>
              </a:rPr>
              <a:t>Research</a:t>
            </a:r>
            <a:r>
              <a:rPr lang="en-US" sz="4000" b="1" i="0" u="sng" strike="noStrike" dirty="0">
                <a:effectLst/>
                <a:latin typeface="Söhne"/>
              </a:rPr>
              <a:t> question</a:t>
            </a:r>
          </a:p>
          <a:p>
            <a:endParaRPr lang="en-US" sz="4000" b="1" u="sng" dirty="0"/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Are there unique profiles based on toxicant exposures and biomarkers among pregnant women?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How do these latent profiles relate to gestation age at the final visit?</a:t>
            </a:r>
          </a:p>
          <a:p>
            <a:endParaRPr lang="en-US" sz="2800" b="1" u="sng" dirty="0"/>
          </a:p>
          <a:p>
            <a:endParaRPr lang="en-US" sz="2800" b="1" u="sng" dirty="0"/>
          </a:p>
          <a:p>
            <a:endParaRPr lang="en-US" sz="2800" b="1" u="sng" dirty="0"/>
          </a:p>
          <a:p>
            <a:endParaRPr lang="en-US" sz="2800" b="1" u="sng" dirty="0"/>
          </a:p>
          <a:p>
            <a:endParaRPr lang="en-US" sz="1800" u="sn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74C35D-0F48-8AE1-02E1-30E352C8EB3C}"/>
              </a:ext>
            </a:extLst>
          </p:cNvPr>
          <p:cNvSpPr txBox="1"/>
          <p:nvPr/>
        </p:nvSpPr>
        <p:spPr>
          <a:xfrm>
            <a:off x="152400" y="18760236"/>
            <a:ext cx="8416480" cy="9356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	</a:t>
            </a:r>
          </a:p>
          <a:p>
            <a:endParaRPr lang="en-US" sz="3600" b="1" dirty="0"/>
          </a:p>
          <a:p>
            <a:r>
              <a:rPr lang="en-US" sz="4000" b="1" u="sng" dirty="0">
                <a:latin typeface="Söhne"/>
              </a:rPr>
              <a:t>Latent Profile Analysis </a:t>
            </a:r>
            <a:r>
              <a:rPr lang="en-US" sz="4000" b="1" i="0" u="sng" strike="noStrike" dirty="0">
                <a:effectLst/>
                <a:latin typeface="Söhne"/>
              </a:rPr>
              <a:t>(LPA)</a:t>
            </a:r>
          </a:p>
          <a:p>
            <a:endParaRPr lang="en-US" sz="4000" b="0" i="0" u="sng" strike="noStrike" dirty="0">
              <a:effectLst/>
              <a:latin typeface="Söhne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effectLst/>
                <a:latin typeface="Söhne"/>
              </a:rPr>
              <a:t> Objective of LPA</a:t>
            </a:r>
            <a:r>
              <a:rPr lang="en-US" sz="3600" b="0" i="0" u="none" strike="noStrike" dirty="0">
                <a:effectLst/>
                <a:latin typeface="Söhne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en-US" sz="3600" b="0" i="0" u="none" strike="noStrike" dirty="0">
                <a:effectLst/>
                <a:latin typeface="Söhne"/>
              </a:rPr>
              <a:t>Uncover hidden subgroups within a population by examining patterns of responses to observed variables.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effectLst/>
                <a:latin typeface="Söhne"/>
              </a:rPr>
              <a:t> Approach</a:t>
            </a:r>
            <a:r>
              <a:rPr lang="en-US" sz="3600" b="0" i="0" u="none" strike="noStrike" dirty="0">
                <a:effectLst/>
                <a:latin typeface="Söhne"/>
              </a:rPr>
              <a:t>:</a:t>
            </a:r>
          </a:p>
          <a:p>
            <a:pPr algn="l">
              <a:lnSpc>
                <a:spcPct val="150000"/>
              </a:lnSpc>
            </a:pPr>
            <a:r>
              <a:rPr lang="en-US" sz="3600" b="0" i="0" u="none" strike="noStrike" dirty="0">
                <a:effectLst/>
                <a:latin typeface="Söhne"/>
              </a:rPr>
              <a:t> Utilizes a probabilistic model to estimate membership probabilities in latent profiles.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latin typeface="Söhne"/>
              </a:rPr>
              <a:t> Model</a:t>
            </a:r>
            <a:r>
              <a:rPr lang="en-US" sz="3600" b="0" i="0" u="none" strike="noStrike" dirty="0">
                <a:effectLst/>
                <a:latin typeface="Söhne"/>
              </a:rPr>
              <a:t>:</a:t>
            </a:r>
          </a:p>
          <a:p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6A3B3C5-E537-84F2-06C7-D680BB59E244}"/>
                  </a:ext>
                </a:extLst>
              </p:cNvPr>
              <p:cNvSpPr txBox="1"/>
              <p:nvPr/>
            </p:nvSpPr>
            <p:spPr>
              <a:xfrm>
                <a:off x="299921" y="29694378"/>
                <a:ext cx="9271412" cy="3330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0" i="0" u="none" strike="noStrike" dirty="0">
                    <a:effectLst/>
                    <a:latin typeface="Söhne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0" i="0" u="none" strike="noStrike" dirty="0">
                    <a:effectLst/>
                    <a:latin typeface="Söhne"/>
                  </a:rPr>
                  <a:t>represent profile-specific means and variances for variable </a:t>
                </a:r>
                <a:r>
                  <a:rPr lang="en-US" sz="3600" b="0" i="0" u="none" strike="noStrike" dirty="0">
                    <a:effectLst/>
                    <a:latin typeface="KaTeX_Main"/>
                  </a:rPr>
                  <a:t>i</a:t>
                </a:r>
                <a:r>
                  <a:rPr lang="en-US" sz="3600" b="0" i="0" u="none" strike="noStrike" dirty="0">
                    <a:effectLst/>
                    <a:latin typeface="Söhne"/>
                  </a:rPr>
                  <a:t>.</a:t>
                </a: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36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360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6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36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3600" b="0" i="0" u="none" strike="noStrike" dirty="0">
                    <a:effectLst/>
                    <a:latin typeface="Söhne"/>
                  </a:rPr>
                  <a:t> indicates profile density.</a:t>
                </a:r>
              </a:p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3600" b="0" i="0" u="none" strike="noStrike" dirty="0">
                  <a:effectLst/>
                  <a:latin typeface="Söhn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6A3B3C5-E537-84F2-06C7-D680BB59E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21" y="29694378"/>
                <a:ext cx="9271412" cy="3330399"/>
              </a:xfrm>
              <a:prstGeom prst="rect">
                <a:avLst/>
              </a:prstGeom>
              <a:blipFill>
                <a:blip r:embed="rId5"/>
                <a:stretch>
                  <a:fillRect l="-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0865AE2D-F2A5-5287-C775-E3574A02B7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4754" y="2032303"/>
            <a:ext cx="10764632" cy="837260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E299B4B-9537-2687-2FFE-DE4E7305DE2B}"/>
              </a:ext>
            </a:extLst>
          </p:cNvPr>
          <p:cNvSpPr txBox="1"/>
          <p:nvPr/>
        </p:nvSpPr>
        <p:spPr>
          <a:xfrm>
            <a:off x="9184754" y="10511288"/>
            <a:ext cx="10683657" cy="3330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effectLst/>
                <a:latin typeface="Söhne"/>
              </a:rPr>
              <a:t> Contour Plot: </a:t>
            </a:r>
            <a:r>
              <a:rPr lang="en-US" sz="3600" b="0" i="0" u="none" strike="noStrike" dirty="0">
                <a:effectLst/>
                <a:latin typeface="Söhne"/>
              </a:rPr>
              <a:t>Shows clustering data density.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effectLst/>
                <a:latin typeface="Söhne"/>
              </a:rPr>
              <a:t> Projection</a:t>
            </a:r>
            <a:r>
              <a:rPr lang="en-US" sz="3600" b="0" i="0" u="none" strike="noStrike" dirty="0">
                <a:effectLst/>
                <a:latin typeface="Söhne"/>
              </a:rPr>
              <a:t>: Onto first two principal components.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effectLst/>
                <a:latin typeface="Söhne"/>
              </a:rPr>
              <a:t> Visualization</a:t>
            </a:r>
            <a:r>
              <a:rPr lang="en-US" sz="3600" b="0" i="0" u="none" strike="noStrike" dirty="0">
                <a:effectLst/>
                <a:latin typeface="Söhne"/>
              </a:rPr>
              <a:t>: Simplifies interpretation.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effectLst/>
                <a:latin typeface="Söhne"/>
              </a:rPr>
              <a:t> Identification</a:t>
            </a:r>
            <a:r>
              <a:rPr lang="en-US" sz="3600" b="0" i="0" u="none" strike="noStrike" dirty="0">
                <a:effectLst/>
                <a:latin typeface="Söhne"/>
              </a:rPr>
              <a:t>: Visually identifies the 4 distinc</a:t>
            </a:r>
            <a:r>
              <a:rPr lang="en-US" sz="3600" dirty="0">
                <a:latin typeface="Söhne"/>
              </a:rPr>
              <a:t>t</a:t>
            </a:r>
            <a:r>
              <a:rPr lang="en-US" sz="3600" b="0" i="0" u="none" strike="noStrike" dirty="0">
                <a:effectLst/>
                <a:latin typeface="Söhne"/>
              </a:rPr>
              <a:t> clusters.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8A3CB8-3FF1-8424-B063-BE396432F849}"/>
              </a:ext>
            </a:extLst>
          </p:cNvPr>
          <p:cNvSpPr txBox="1"/>
          <p:nvPr/>
        </p:nvSpPr>
        <p:spPr>
          <a:xfrm>
            <a:off x="368834" y="1717810"/>
            <a:ext cx="8416480" cy="10901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000" b="1" i="0" u="sng" strike="noStrike" dirty="0">
                <a:effectLst/>
                <a:latin typeface="Söhne"/>
              </a:rPr>
              <a:t>Data Overview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161 observations.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</a:t>
            </a:r>
            <a:r>
              <a:rPr lang="en-US" sz="3600" b="1" i="0" u="none" strike="noStrike" dirty="0">
                <a:effectLst/>
                <a:latin typeface="Söhne"/>
              </a:rPr>
              <a:t>4 types of Exposures </a:t>
            </a:r>
            <a:r>
              <a:rPr lang="en-US" sz="3600" i="0" u="none" strike="noStrike" dirty="0">
                <a:effectLst/>
                <a:latin typeface="Söhne"/>
              </a:rPr>
              <a:t>(p=38): </a:t>
            </a:r>
            <a:r>
              <a:rPr lang="en-US" sz="3600" b="0" i="0" u="none" strike="noStrike" dirty="0">
                <a:effectLst/>
                <a:latin typeface="Söhne"/>
              </a:rPr>
              <a:t>phthalates, phenols &amp; parabens, polycyclic aromatic hydrocarbons, trace metals.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</a:t>
            </a:r>
            <a:r>
              <a:rPr lang="en-US" sz="3600" b="1" i="0" u="none" strike="noStrike" dirty="0">
                <a:effectLst/>
                <a:latin typeface="Söhne"/>
              </a:rPr>
              <a:t>6 types of Endogenous biomarkers </a:t>
            </a:r>
            <a:r>
              <a:rPr lang="en-US" sz="3600" b="0" i="0" u="none" strike="noStrike" dirty="0">
                <a:effectLst/>
                <a:latin typeface="Söhne"/>
              </a:rPr>
              <a:t>(p=61): Cyclooxygenase, Cytochrome p450, Lipoxygenase, Parent Compound, Oxidative Stress, Protein Damage, Inflammatory.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</a:t>
            </a:r>
            <a:r>
              <a:rPr lang="en-US" sz="3600" b="1" i="0" u="none" strike="noStrike" dirty="0">
                <a:effectLst/>
                <a:latin typeface="Söhne"/>
              </a:rPr>
              <a:t>Covariates: </a:t>
            </a:r>
            <a:r>
              <a:rPr lang="en-US" sz="3600" b="0" i="0" u="none" strike="noStrike" dirty="0">
                <a:effectLst/>
                <a:latin typeface="Söhne"/>
              </a:rPr>
              <a:t>age, insurance, specific gravity, initial BMI, education.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</a:t>
            </a:r>
            <a:r>
              <a:rPr lang="en-US" sz="3600" b="1" i="0" u="none" strike="noStrike" dirty="0">
                <a:effectLst/>
                <a:latin typeface="Söhne"/>
              </a:rPr>
              <a:t>Response variable: </a:t>
            </a:r>
            <a:r>
              <a:rPr lang="en-US" sz="3600" b="0" i="0" u="none" strike="noStrike" dirty="0">
                <a:effectLst/>
                <a:latin typeface="Söhne"/>
              </a:rPr>
              <a:t>gestation age at final visit.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BF0BB3B-0925-908A-4AC9-EF937061DB1B}"/>
                  </a:ext>
                </a:extLst>
              </p:cNvPr>
              <p:cNvSpPr txBox="1"/>
              <p:nvPr/>
            </p:nvSpPr>
            <p:spPr>
              <a:xfrm>
                <a:off x="9229348" y="20694783"/>
                <a:ext cx="11145845" cy="11841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000" b="1" i="0" u="sng" strike="noStrike" dirty="0">
                    <a:effectLst/>
                    <a:latin typeface="Söhne"/>
                  </a:rPr>
                  <a:t>Factor Analysis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600" b="1" i="0" u="none" strike="noStrike" dirty="0">
                    <a:effectLst/>
                    <a:latin typeface="Söhne"/>
                  </a:rPr>
                  <a:t> Aim</a:t>
                </a:r>
                <a:r>
                  <a:rPr lang="en-US" sz="3600" b="0" i="0" u="none" strike="noStrike" dirty="0">
                    <a:effectLst/>
                    <a:latin typeface="Söhne"/>
                  </a:rPr>
                  <a:t>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b="0" i="0" u="none" strike="noStrike" dirty="0">
                    <a:effectLst/>
                    <a:latin typeface="Söhne"/>
                  </a:rPr>
                  <a:t>Identifies latent factors.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dirty="0">
                    <a:latin typeface="Söhne"/>
                  </a:rPr>
                  <a:t>Reduces dimensionality.</a:t>
                </a:r>
                <a:endParaRPr lang="en-US" sz="3600" b="0" i="0" u="none" strike="noStrike" dirty="0">
                  <a:effectLst/>
                  <a:latin typeface="Söhne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b="1" i="0" u="none" strike="noStrike" dirty="0">
                    <a:effectLst/>
                    <a:latin typeface="Söhne"/>
                  </a:rPr>
                  <a:t>Model:</a:t>
                </a:r>
                <a:endParaRPr lang="en-US" sz="3600" b="1" dirty="0">
                  <a:latin typeface="Söhne"/>
                </a:endParaRPr>
              </a:p>
              <a:p>
                <a:pPr>
                  <a:lnSpc>
                    <a:spcPct val="150000"/>
                  </a:lnSpc>
                </a:pPr>
                <a:endParaRPr lang="en-US" sz="3600" dirty="0">
                  <a:latin typeface="Söhne"/>
                </a:endParaRPr>
              </a:p>
              <a:p>
                <a:pPr>
                  <a:lnSpc>
                    <a:spcPct val="150000"/>
                  </a:lnSpc>
                </a:pPr>
                <a:endParaRPr lang="en-US" sz="3600" dirty="0">
                  <a:latin typeface="Söhne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3600" b="0" i="0" u="none" strike="noStrike" dirty="0">
                    <a:effectLst/>
                    <a:latin typeface="Söhne"/>
                  </a:rPr>
                  <a:t>Variability in data X, is represented by </a:t>
                </a:r>
                <a14:m>
                  <m:oMath xmlns:m="http://schemas.openxmlformats.org/officeDocument/2006/math">
                    <m:r>
                      <a:rPr lang="en-US" sz="3600" b="0" i="1" kern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∑</m:t>
                    </m:r>
                    <m:r>
                      <a:rPr lang="en-US" sz="3600" b="0" i="0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3600" b="0" i="0" kern="0" dirty="0">
                  <a:effectLst/>
                  <a:latin typeface="Söhne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3600" dirty="0">
                    <a:latin typeface="Söhne"/>
                  </a:rPr>
                  <a:t>It’s e</a:t>
                </a:r>
                <a:r>
                  <a:rPr lang="en-US" sz="3600" dirty="0">
                    <a:effectLst/>
                    <a:latin typeface="Söhne"/>
                  </a:rPr>
                  <a:t>stim</a:t>
                </a:r>
                <a:r>
                  <a:rPr lang="en-US" sz="3600" dirty="0">
                    <a:latin typeface="Söhne"/>
                  </a:rPr>
                  <a:t>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</m:acc>
                  </m:oMath>
                </a14:m>
                <a:r>
                  <a:rPr lang="en-US" sz="3600" b="0" i="0" u="none" strike="noStrike" dirty="0">
                    <a:solidFill>
                      <a:srgbClr val="ECECEC"/>
                    </a:solidFill>
                    <a:effectLst/>
                    <a:latin typeface="Söhne"/>
                  </a:rPr>
                  <a:t> </a:t>
                </a:r>
                <a:r>
                  <a:rPr lang="en-US" sz="3600" dirty="0">
                    <a:solidFill>
                      <a:srgbClr val="ECECEC"/>
                    </a:solidFill>
                    <a:latin typeface="Söhne"/>
                  </a:rPr>
                  <a:t> </a:t>
                </a:r>
                <a:r>
                  <a:rPr lang="en-US" sz="3600" dirty="0">
                    <a:latin typeface="Söhne"/>
                  </a:rPr>
                  <a:t>is composed of :</a:t>
                </a:r>
                <a:endParaRPr lang="en-US" sz="3600" b="0" i="0" u="none" strike="noStrike" dirty="0">
                  <a:solidFill>
                    <a:srgbClr val="ECECEC"/>
                  </a:solidFill>
                  <a:effectLst/>
                  <a:latin typeface="Söhne"/>
                </a:endParaRP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⋀</m:t>
                        </m:r>
                      </m:e>
                    </m:acc>
                    <m:sSup>
                      <m:sSup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⋀ </m:t>
                            </m:r>
                          </m:e>
                        </m:acc>
                      </m:e>
                      <m:sup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3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: Variability explained by factors (communality).</a:t>
                </a: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3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acc>
                    <m:r>
                      <a:rPr lang="en-US" sz="3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: Variability not explained by factors (uniqueness)</a:t>
                </a:r>
                <a:endParaRPr lang="en-US" sz="3600" b="0" i="0" u="none" strike="noStrike" dirty="0">
                  <a:effectLst/>
                  <a:latin typeface="Söhne"/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b="1" i="0" u="none" strike="noStrike" dirty="0">
                    <a:effectLst/>
                    <a:latin typeface="Söhne"/>
                  </a:rPr>
                  <a:t> Methodology</a:t>
                </a:r>
                <a:r>
                  <a:rPr lang="en-US" sz="3600" b="0" i="0" u="none" strike="noStrike" dirty="0">
                    <a:effectLst/>
                    <a:latin typeface="Söhne"/>
                  </a:rPr>
                  <a:t>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b="0" i="0" u="none" strike="noStrike" dirty="0">
                    <a:effectLst/>
                    <a:latin typeface="Söhne"/>
                  </a:rPr>
                  <a:t>Principal Component Analysis. 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b="0" i="0" u="none" strike="noStrike" dirty="0">
                    <a:effectLst/>
                    <a:latin typeface="Söhne"/>
                  </a:rPr>
                  <a:t>Maximum Likelihood Method.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BF0BB3B-0925-908A-4AC9-EF937061D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9348" y="20694783"/>
                <a:ext cx="11145845" cy="11841127"/>
              </a:xfrm>
              <a:prstGeom prst="rect">
                <a:avLst/>
              </a:prstGeom>
              <a:blipFill>
                <a:blip r:embed="rId7"/>
                <a:stretch>
                  <a:fillRect l="-1934" b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F50501A0-D104-B354-001C-13044323D795}"/>
              </a:ext>
            </a:extLst>
          </p:cNvPr>
          <p:cNvSpPr txBox="1"/>
          <p:nvPr/>
        </p:nvSpPr>
        <p:spPr>
          <a:xfrm>
            <a:off x="20317587" y="16580221"/>
            <a:ext cx="11145845" cy="4161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Determines </a:t>
            </a:r>
            <a:r>
              <a:rPr lang="en-US" sz="3600" dirty="0">
                <a:latin typeface="Söhne"/>
              </a:rPr>
              <a:t>number of </a:t>
            </a:r>
            <a:r>
              <a:rPr lang="en-US" sz="3600" b="0" i="0" u="none" strike="noStrike" dirty="0">
                <a:effectLst/>
                <a:latin typeface="Söhne"/>
              </a:rPr>
              <a:t>factors.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Maximizes coverage.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i="0" u="none" strike="noStrike" dirty="0">
                <a:effectLst/>
                <a:latin typeface="Söhne"/>
              </a:rPr>
              <a:t>AF</a:t>
            </a:r>
            <a:r>
              <a:rPr lang="en-US" sz="3600" b="0" i="0" u="none" strike="noStrike" dirty="0">
                <a:effectLst/>
                <a:latin typeface="Söhne"/>
              </a:rPr>
              <a:t>: Actual elbow denotes minimum required factors.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i="0" u="none" strike="noStrike" dirty="0">
                <a:effectLst/>
                <a:latin typeface="Söhne"/>
              </a:rPr>
              <a:t>OC</a:t>
            </a:r>
            <a:r>
              <a:rPr lang="en-US" sz="3600" b="0" i="0" u="none" strike="noStrike" dirty="0">
                <a:effectLst/>
                <a:latin typeface="Söhne"/>
              </a:rPr>
              <a:t>: Maximum feasible factors, last eigenvalue ≥ 1.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Values &gt; 1 preferred; &lt; 1, especially, less desirable.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B90CA5-4696-5D37-3ABB-6CF61F93823A}"/>
              </a:ext>
            </a:extLst>
          </p:cNvPr>
          <p:cNvSpPr txBox="1"/>
          <p:nvPr/>
        </p:nvSpPr>
        <p:spPr>
          <a:xfrm>
            <a:off x="32327088" y="23168391"/>
            <a:ext cx="11411712" cy="9239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000" b="1" i="0" u="sng" strike="noStrike" dirty="0">
                <a:effectLst/>
                <a:latin typeface="Söhne"/>
              </a:rPr>
              <a:t>References</a:t>
            </a:r>
          </a:p>
          <a:p>
            <a:pPr algn="l">
              <a:lnSpc>
                <a:spcPct val="150000"/>
              </a:lnSpc>
            </a:pPr>
            <a:r>
              <a:rPr lang="en-US" sz="3600" dirty="0">
                <a:latin typeface="Söhne"/>
              </a:rPr>
              <a:t>1</a:t>
            </a:r>
            <a:r>
              <a:rPr lang="en-US" sz="3600" b="1" dirty="0">
                <a:latin typeface="Söhne"/>
              </a:rPr>
              <a:t>.</a:t>
            </a:r>
            <a:r>
              <a:rPr lang="en-US" sz="3600" dirty="0">
                <a:latin typeface="Söhne"/>
              </a:rPr>
              <a:t> </a:t>
            </a:r>
            <a:r>
              <a:rPr lang="en-US" sz="3600" b="0" i="0" u="none" strike="noStrike" dirty="0">
                <a:effectLst/>
                <a:latin typeface="Söhne"/>
              </a:rPr>
              <a:t>James, G., Witten, D., Hastie, T., &amp; Tibshirani, R. (2023). </a:t>
            </a:r>
            <a:r>
              <a:rPr lang="en-US" sz="3600" b="0" i="1" u="none" strike="noStrike" dirty="0">
                <a:effectLst/>
                <a:latin typeface="Söhne"/>
              </a:rPr>
              <a:t>An Introduction to Statistical Learning.</a:t>
            </a:r>
            <a:r>
              <a:rPr lang="en-US" sz="3600" b="0" i="0" u="none" strike="noStrike" dirty="0">
                <a:effectLst/>
                <a:latin typeface="Söhne"/>
              </a:rPr>
              <a:t> Accessed April 28, 2024, from </a:t>
            </a:r>
            <a:r>
              <a:rPr lang="en-US" sz="3600" b="0" i="0" u="none" strike="noStrike" dirty="0">
                <a:effectLst/>
                <a:latin typeface="Söhne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https://www.statlearning.com/</a:t>
            </a:r>
            <a:r>
              <a:rPr lang="en-US" sz="3600" b="0" i="0" u="none" strike="noStrike" dirty="0">
                <a:effectLst/>
                <a:latin typeface="Söhne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sz="3600" dirty="0">
                <a:latin typeface="Söhne"/>
              </a:rPr>
              <a:t>2. </a:t>
            </a:r>
            <a:r>
              <a:rPr lang="en-US" sz="3600" b="0" i="0" u="none" strike="noStrike" dirty="0">
                <a:effectLst/>
                <a:latin typeface="Söhne"/>
              </a:rPr>
              <a:t>Hartmann, K., Krois, J., &amp; Rudolph, A. (2023). </a:t>
            </a:r>
            <a:r>
              <a:rPr lang="en-US" sz="3600" b="0" i="1" u="none" strike="noStrike" dirty="0">
                <a:effectLst/>
                <a:latin typeface="Söhne"/>
              </a:rPr>
              <a:t>Statistics and Geodata Analysis using R (SOGA-R).</a:t>
            </a:r>
            <a:r>
              <a:rPr lang="en-US" sz="3600" b="0" i="0" u="none" strike="noStrike" dirty="0">
                <a:effectLst/>
                <a:latin typeface="Söhne"/>
              </a:rPr>
              <a:t> Department of Earth Sciences, Freie Universitaet Berlin.</a:t>
            </a:r>
          </a:p>
          <a:p>
            <a:pPr algn="l">
              <a:lnSpc>
                <a:spcPct val="150000"/>
              </a:lnSpc>
            </a:pPr>
            <a:r>
              <a:rPr lang="en-US" sz="3600" dirty="0">
                <a:latin typeface="Söhne"/>
              </a:rPr>
              <a:t>3. </a:t>
            </a:r>
            <a:r>
              <a:rPr lang="en-US" sz="3600" b="0" i="0" u="none" strike="noStrike" dirty="0" err="1">
                <a:effectLst/>
                <a:latin typeface="Söhne"/>
              </a:rPr>
              <a:t>Spurk</a:t>
            </a:r>
            <a:r>
              <a:rPr lang="en-US" sz="3600" b="0" i="0" u="none" strike="noStrike" dirty="0">
                <a:effectLst/>
                <a:latin typeface="Söhne"/>
              </a:rPr>
              <a:t>, D., Hirschi, A., Wang, M., Valero, D. C., &amp; Kauffeld, S. (2020). </a:t>
            </a:r>
            <a:r>
              <a:rPr lang="en-US" sz="3600" b="0" i="1" u="none" strike="noStrike" dirty="0">
                <a:effectLst/>
                <a:latin typeface="Söhne"/>
              </a:rPr>
              <a:t>Latent profile analysis: A review and 'how to' guide of its application within vocational behavior research.</a:t>
            </a:r>
            <a:r>
              <a:rPr lang="en-US" sz="3600" b="0" i="0" u="none" strike="noStrike" dirty="0">
                <a:effectLst/>
                <a:latin typeface="Söhne"/>
              </a:rPr>
              <a:t> </a:t>
            </a:r>
            <a:r>
              <a:rPr lang="en-US" sz="3600" b="0" i="1" u="none" strike="noStrike" dirty="0">
                <a:effectLst/>
                <a:latin typeface="Söhne"/>
              </a:rPr>
              <a:t>Journal of Vocational Behavior, 120</a:t>
            </a:r>
            <a:r>
              <a:rPr lang="en-US" sz="3600" b="0" i="0" u="none" strike="noStrike" dirty="0">
                <a:effectLst/>
                <a:latin typeface="Söhne"/>
              </a:rPr>
              <a:t>, 103445.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B7FACE-337B-B16D-BE3B-E76465D0AB00}"/>
              </a:ext>
            </a:extLst>
          </p:cNvPr>
          <p:cNvSpPr txBox="1"/>
          <p:nvPr/>
        </p:nvSpPr>
        <p:spPr>
          <a:xfrm>
            <a:off x="20809871" y="2032303"/>
            <a:ext cx="10891789" cy="4253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000" b="1" i="0" u="sng" strike="noStrike" dirty="0">
                <a:effectLst/>
                <a:latin typeface="Söhne"/>
              </a:rPr>
              <a:t>Factor Analysis on Biomarkers</a:t>
            </a:r>
            <a:endParaRPr lang="en-US" sz="3600" b="0" i="0" u="sng" strike="noStrike" dirty="0">
              <a:effectLst/>
              <a:latin typeface="Söhne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18 latent profiles, explaining 80% variance. 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Rotation Method: Promax (correlates factors)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effectLst/>
                <a:latin typeface="Söhne"/>
              </a:rPr>
              <a:t> Challenges</a:t>
            </a:r>
            <a:r>
              <a:rPr lang="en-US" sz="3600" dirty="0">
                <a:latin typeface="Söhne"/>
              </a:rPr>
              <a:t> </a:t>
            </a:r>
            <a:r>
              <a:rPr lang="en-US" sz="3600" b="1" dirty="0">
                <a:latin typeface="Söhne"/>
              </a:rPr>
              <a:t>encountered during factor analysis:</a:t>
            </a:r>
            <a:endParaRPr lang="en-US" sz="3600" b="0" i="0" u="none" strike="noStrike" dirty="0">
              <a:effectLst/>
              <a:latin typeface="Söhne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Complex data hindered relationship interpretation.</a:t>
            </a:r>
          </a:p>
        </p:txBody>
      </p:sp>
      <p:pic>
        <p:nvPicPr>
          <p:cNvPr id="1025" name="Picture 1" descr="User">
            <a:extLst>
              <a:ext uri="{FF2B5EF4-FFF2-40B4-BE49-F238E27FC236}">
                <a16:creationId xmlns:a16="http://schemas.microsoft.com/office/drawing/2014/main" id="{BDEEC84B-4AA2-F57E-BCA5-DB2EAB6F5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ctangle 2">
            <a:extLst>
              <a:ext uri="{FF2B5EF4-FFF2-40B4-BE49-F238E27FC236}">
                <a16:creationId xmlns:a16="http://schemas.microsoft.com/office/drawing/2014/main" id="{3D7EF02D-5970-1365-8613-8E9AFA2F9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7762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CECEC"/>
                </a:solidFill>
                <a:effectLst/>
                <a:latin typeface="Söhne"/>
              </a:rPr>
              <a:t>Motivation Question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B557BCB-D6BB-C1C2-7CEC-E7294989B548}"/>
                  </a:ext>
                </a:extLst>
              </p:cNvPr>
              <p:cNvSpPr txBox="1"/>
              <p:nvPr/>
            </p:nvSpPr>
            <p:spPr>
              <a:xfrm>
                <a:off x="20904865" y="21386796"/>
                <a:ext cx="11760852" cy="11881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4000" b="1" i="0" u="sng" strike="noStrike" dirty="0">
                    <a:effectLst/>
                    <a:latin typeface="Söhne"/>
                  </a:rPr>
                  <a:t>LASSO regression 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en-US" sz="3600" b="0" i="0" u="none" strike="noStrike" dirty="0">
                    <a:effectLst/>
                    <a:latin typeface="Söhne"/>
                  </a:rPr>
                  <a:t> A regularization technique for variable selection.</a:t>
                </a: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b="1" dirty="0">
                    <a:latin typeface="Söhne"/>
                  </a:rPr>
                  <a:t> Aim</a:t>
                </a:r>
                <a:r>
                  <a:rPr lang="en-US" sz="3600" b="1" i="0" u="none" strike="noStrike" dirty="0">
                    <a:effectLst/>
                    <a:latin typeface="Söhne"/>
                  </a:rPr>
                  <a:t>:</a:t>
                </a:r>
                <a:r>
                  <a:rPr lang="en-US" sz="3600" b="0" i="0" u="none" strike="noStrike" dirty="0">
                    <a:effectLst/>
                    <a:latin typeface="Söhne"/>
                  </a:rPr>
                  <a:t> Minimize residual sum of squares (RSS).</a:t>
                </a: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b="1" i="0" u="none" strike="noStrike" dirty="0">
                    <a:effectLst/>
                    <a:latin typeface="Söhne"/>
                  </a:rPr>
                  <a:t> Objective: </a:t>
                </a:r>
                <a:r>
                  <a:rPr lang="en-US" sz="3600" b="0" i="0" u="none" strike="noStrike" dirty="0">
                    <a:effectLst/>
                    <a:latin typeface="Söhne"/>
                  </a:rPr>
                  <a:t>Penalizes absolute size of coefficients (</a:t>
                </a:r>
                <a:r>
                  <a:rPr lang="el-GR" sz="3600" b="0" i="0" u="none" strike="noStrike" dirty="0">
                    <a:effectLst/>
                    <a:latin typeface="Söhne"/>
                  </a:rPr>
                  <a:t>β).</a:t>
                </a: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b="1" i="0" u="none" strike="noStrike" dirty="0">
                    <a:effectLst/>
                    <a:latin typeface="Söhne"/>
                  </a:rPr>
                  <a:t> Model</a:t>
                </a:r>
                <a:r>
                  <a:rPr lang="en-US" sz="3600" b="1" dirty="0">
                    <a:latin typeface="KaTeX_Main"/>
                  </a:rPr>
                  <a:t>:</a:t>
                </a:r>
                <a:endParaRPr lang="en-US" sz="3600" b="1" i="0" u="none" strike="noStrike" dirty="0">
                  <a:effectLst/>
                  <a:latin typeface="KaTeX_Main"/>
                </a:endParaRP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3600" b="0" i="0" u="none" strike="noStrike" dirty="0">
                  <a:effectLst/>
                  <a:latin typeface="KaTeX_Main"/>
                </a:endParaRP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3600" b="0" i="0" u="none" strike="noStrike" dirty="0">
                  <a:effectLst/>
                  <a:latin typeface="Söhne"/>
                </a:endParaRP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b="0" i="1" u="none" strike="noStrike" dirty="0">
                    <a:effectLst/>
                    <a:latin typeface="KaTeX_Math"/>
                  </a:rPr>
                  <a:t> n</a:t>
                </a:r>
                <a:r>
                  <a:rPr lang="en-US" sz="3600" b="0" i="0" u="none" strike="noStrike" dirty="0">
                    <a:effectLst/>
                    <a:latin typeface="Söhne"/>
                  </a:rPr>
                  <a:t>: Number of observations.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6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3600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600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0" i="0" u="none" strike="noStrike" dirty="0">
                    <a:effectLst/>
                    <a:latin typeface="Söhne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u="none" strike="noStrike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u="none" strike="noStrike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3600" b="0" i="1" u="none" strike="noStrike" smtClean="0">
                            <a:effectLst/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3600" b="0" i="0" u="none" strike="noStrike" dirty="0">
                    <a:effectLst/>
                    <a:latin typeface="Söhne"/>
                  </a:rPr>
                  <a:t> Outcome response.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6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3600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3600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l-GR" sz="3600" b="0" i="0" u="none" strike="noStrike" dirty="0">
                    <a:effectLst/>
                    <a:latin typeface="KaTeX_Main"/>
                  </a:rPr>
                  <a:t>​</a:t>
                </a:r>
                <a:r>
                  <a:rPr lang="el-GR" sz="3600" b="0" i="0" u="none" strike="noStrike" dirty="0">
                    <a:effectLst/>
                    <a:latin typeface="Söhne"/>
                  </a:rPr>
                  <a:t>: </a:t>
                </a:r>
                <a:r>
                  <a:rPr lang="en-US" sz="3600" b="0" i="0" u="none" strike="noStrike" dirty="0">
                    <a:effectLst/>
                    <a:latin typeface="Söhne"/>
                  </a:rPr>
                  <a:t>Intercept term.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6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3600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0" i="0" u="none" strike="noStrike" dirty="0">
                    <a:effectLst/>
                    <a:latin typeface="KaTeX_Main"/>
                  </a:rPr>
                  <a:t>​</a:t>
                </a:r>
                <a:r>
                  <a:rPr lang="en-US" sz="3600" b="0" i="0" u="none" strike="noStrike" dirty="0">
                    <a:effectLst/>
                    <a:latin typeface="Söhne"/>
                  </a:rPr>
                  <a:t>: Value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3600" b="0" i="0" u="none" strike="noStrike" dirty="0">
                    <a:effectLst/>
                    <a:latin typeface="Söhne"/>
                  </a:rPr>
                  <a:t> predictor 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  <m:r>
                      <a:rPr lang="en-US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b="0" i="0" u="none" strike="noStrike" dirty="0">
                    <a:effectLst/>
                    <a:latin typeface="Söhne"/>
                  </a:rPr>
                  <a:t>observation.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6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3600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3600" i="1" ker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r>
                  <a:rPr lang="en-US" sz="3600" b="0" i="0" u="none" strike="noStrike" dirty="0">
                    <a:effectLst/>
                    <a:latin typeface="Söhne"/>
                  </a:rPr>
                  <a:t>: Coefficient 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3600" b="0" i="0" u="none" strike="noStrike" dirty="0">
                    <a:effectLst/>
                    <a:latin typeface="Söhne"/>
                  </a:rPr>
                  <a:t> predictor.</a:t>
                </a: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b="0" i="0" u="none" strike="noStrike" dirty="0">
                    <a:effectLst/>
                    <a:latin typeface="KaTeX_Main"/>
                  </a:rPr>
                  <a:t> </a:t>
                </a:r>
                <a:r>
                  <a:rPr lang="el-GR" sz="3600" b="0" i="0" u="none" strike="noStrike" dirty="0">
                    <a:effectLst/>
                    <a:latin typeface="KaTeX_Main"/>
                  </a:rPr>
                  <a:t>λ</a:t>
                </a:r>
                <a:r>
                  <a:rPr lang="el-GR" sz="3600" b="0" i="0" u="none" strike="noStrike" dirty="0">
                    <a:effectLst/>
                    <a:latin typeface="Söhne"/>
                  </a:rPr>
                  <a:t>: </a:t>
                </a:r>
                <a:r>
                  <a:rPr lang="en-US" sz="3600" b="0" i="0" u="none" strike="noStrike" dirty="0">
                    <a:effectLst/>
                    <a:latin typeface="Söhne"/>
                  </a:rPr>
                  <a:t>Regularization parameter, controlling penalty strength.</a:t>
                </a:r>
                <a:endParaRPr lang="en-US" sz="3600" b="1" i="0" u="none" strike="noStrike" dirty="0">
                  <a:effectLst/>
                  <a:latin typeface="Söhne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sz="3600" b="0" i="0" u="none" strike="noStrike" dirty="0">
                  <a:effectLst/>
                  <a:latin typeface="Söhne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B557BCB-D6BB-C1C2-7CEC-E7294989B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4865" y="21386796"/>
                <a:ext cx="11760852" cy="11881394"/>
              </a:xfrm>
              <a:prstGeom prst="rect">
                <a:avLst/>
              </a:prstGeom>
              <a:blipFill>
                <a:blip r:embed="rId10"/>
                <a:stretch>
                  <a:fillRect l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28C804-6831-F53C-C80D-B8C2B93E7D94}"/>
                  </a:ext>
                </a:extLst>
              </p:cNvPr>
              <p:cNvSpPr txBox="1"/>
              <p:nvPr/>
            </p:nvSpPr>
            <p:spPr>
              <a:xfrm>
                <a:off x="-216565" y="27568895"/>
                <a:ext cx="9482294" cy="26732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400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4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sup>
                        <m:e>
                          <m:sSup>
                            <m:sSupPr>
                              <m:ctrlPr>
                                <a:rPr lang="en-US" sz="44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44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4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44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44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44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4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44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  <m:r>
                                <a:rPr lang="en-US" sz="44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44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4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44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44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44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</m:e>
                      </m:nary>
                      <m:nary>
                        <m:naryPr>
                          <m:chr m:val="∑"/>
                          <m:limLoc m:val="undOvr"/>
                          <m:ctrlP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44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44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sSubSup>
                        <m:sSubSupPr>
                          <m:ctrlP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𝑖𝑘</m:t>
                          </m:r>
                        </m:sub>
                        <m:sup>
                          <m:r>
                            <a:rPr lang="en-US" sz="44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4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4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4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28C804-6831-F53C-C80D-B8C2B93E7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6565" y="27568895"/>
                <a:ext cx="9482294" cy="2673232"/>
              </a:xfrm>
              <a:prstGeom prst="rect">
                <a:avLst/>
              </a:prstGeom>
              <a:blipFill>
                <a:blip r:embed="rId11"/>
                <a:stretch>
                  <a:fillRect l="-2273" t="-79717" b="-98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080CAD-EB2D-22B6-EF99-7CE81CECAC0A}"/>
                  </a:ext>
                </a:extLst>
              </p:cNvPr>
              <p:cNvSpPr txBox="1"/>
              <p:nvPr/>
            </p:nvSpPr>
            <p:spPr>
              <a:xfrm>
                <a:off x="9571333" y="25041791"/>
                <a:ext cx="5239563" cy="1039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</m:acc>
                    <m:r>
                      <a:rPr lang="en-US" sz="4400" i="1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̂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⋀</m:t>
                        </m:r>
                      </m:e>
                    </m:acc>
                    <m:sSup>
                      <m:sSup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⋀ </m:t>
                            </m:r>
                          </m:e>
                        </m:acc>
                      </m:e>
                      <m:sup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4400" i="1">
                        <a:latin typeface="Cambria Math" panose="02040503050406030204" pitchFamily="18" charset="0"/>
                      </a:rPr>
                      <m:t>+ </m:t>
                    </m:r>
                    <m:acc>
                      <m:accPr>
                        <m:chr m:val="̂"/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440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acc>
                    <m:r>
                      <a:rPr lang="en-US" sz="4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4400" dirty="0">
                    <a:effectLst/>
                  </a:rPr>
                  <a:t> </a:t>
                </a:r>
                <a:endParaRPr lang="en-US" sz="4400" b="0" i="0" u="none" strike="noStrike" dirty="0">
                  <a:effectLst/>
                  <a:latin typeface="Söhne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080CAD-EB2D-22B6-EF99-7CE81CECA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1333" y="25041791"/>
                <a:ext cx="5239563" cy="1039387"/>
              </a:xfrm>
              <a:prstGeom prst="rect">
                <a:avLst/>
              </a:prstGeom>
              <a:blipFill>
                <a:blip r:embed="rId12"/>
                <a:stretch>
                  <a:fillRect l="-725" b="-20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9F1641-DE56-D059-12E7-9E80E94DB4CA}"/>
                  </a:ext>
                </a:extLst>
              </p:cNvPr>
              <p:cNvSpPr txBox="1"/>
              <p:nvPr/>
            </p:nvSpPr>
            <p:spPr>
              <a:xfrm>
                <a:off x="20905627" y="25609542"/>
                <a:ext cx="10891789" cy="1239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sz="4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4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4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4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4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4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4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4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4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p>
                          <m:e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4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4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sz="4400" dirty="0">
                    <a:effectLst/>
                  </a:rPr>
                  <a:t> </a:t>
                </a:r>
                <a:endParaRPr lang="en-US" sz="4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9F1641-DE56-D059-12E7-9E80E94DB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5627" y="25609542"/>
                <a:ext cx="10891789" cy="1239378"/>
              </a:xfrm>
              <a:prstGeom prst="rect">
                <a:avLst/>
              </a:prstGeom>
              <a:blipFill>
                <a:blip r:embed="rId13"/>
                <a:stretch>
                  <a:fillRect l="-8498" t="-64286" b="-1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C0EED38-0F0A-B62A-8FD4-6ACBBB40DD89}"/>
              </a:ext>
            </a:extLst>
          </p:cNvPr>
          <p:cNvSpPr txBox="1"/>
          <p:nvPr/>
        </p:nvSpPr>
        <p:spPr>
          <a:xfrm>
            <a:off x="9173208" y="13841687"/>
            <a:ext cx="10769673" cy="6746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000" b="1" i="0" u="sng" strike="noStrike" dirty="0">
                <a:effectLst/>
                <a:latin typeface="Söhne"/>
              </a:rPr>
              <a:t>Latent cl</a:t>
            </a:r>
            <a:r>
              <a:rPr lang="en-US" sz="4000" b="1" u="sng" dirty="0">
                <a:latin typeface="Söhne"/>
              </a:rPr>
              <a:t>usters on 38 exposures</a:t>
            </a:r>
            <a:endParaRPr lang="en-US" sz="4000" b="1" i="0" u="sng" strike="noStrike" dirty="0">
              <a:effectLst/>
              <a:latin typeface="Söhne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</a:t>
            </a:r>
            <a:r>
              <a:rPr lang="en-US" sz="3600" b="1" i="0" u="none" strike="noStrike" dirty="0">
                <a:effectLst/>
                <a:latin typeface="Söhne"/>
              </a:rPr>
              <a:t>Latent Cluster 1</a:t>
            </a:r>
            <a:r>
              <a:rPr lang="en-US" sz="3600" b="0" i="0" u="none" strike="noStrike" dirty="0">
                <a:effectLst/>
                <a:latin typeface="Söhne"/>
              </a:rPr>
              <a:t>: Low exposure to phthalates, phenols and  parabens, and PAHs.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</a:t>
            </a:r>
            <a:r>
              <a:rPr lang="en-US" sz="3600" b="1" i="0" u="none" strike="noStrike" dirty="0">
                <a:effectLst/>
                <a:latin typeface="Söhne"/>
              </a:rPr>
              <a:t>Latent Cluster 2</a:t>
            </a:r>
            <a:r>
              <a:rPr lang="en-US" sz="3600" b="0" i="0" u="none" strike="noStrike" dirty="0">
                <a:effectLst/>
                <a:latin typeface="Söhne"/>
              </a:rPr>
              <a:t>: Average exposure to phthalates, phenols and parabens, PAHs, and trace metals.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</a:t>
            </a:r>
            <a:r>
              <a:rPr lang="en-US" sz="3600" b="1" i="0" u="none" strike="noStrike" dirty="0">
                <a:effectLst/>
                <a:latin typeface="Söhne"/>
              </a:rPr>
              <a:t>Latent Cluster 3</a:t>
            </a:r>
            <a:r>
              <a:rPr lang="en-US" sz="3600" b="0" i="0" u="none" strike="noStrike" dirty="0">
                <a:effectLst/>
                <a:latin typeface="Söhne"/>
              </a:rPr>
              <a:t>: High exposure to phthalates, phenols and parabens, PAHs, and trace metals.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</a:t>
            </a:r>
            <a:r>
              <a:rPr lang="en-US" sz="3600" b="1" i="0" u="none" strike="noStrike" dirty="0">
                <a:effectLst/>
                <a:latin typeface="Söhne"/>
              </a:rPr>
              <a:t>Latent Cluster 4</a:t>
            </a:r>
            <a:r>
              <a:rPr lang="en-US" sz="3600" b="0" i="0" u="none" strike="noStrike" dirty="0">
                <a:effectLst/>
                <a:latin typeface="Söhne"/>
              </a:rPr>
              <a:t>: Very low exposure to trace metals.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3EFD90-D30C-70BD-840D-D3564569795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809871" y="6932435"/>
            <a:ext cx="10653561" cy="90026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E787A5-F606-12CC-8C74-7961E102B5EB}"/>
                  </a:ext>
                </a:extLst>
              </p:cNvPr>
              <p:cNvSpPr txBox="1"/>
              <p:nvPr/>
            </p:nvSpPr>
            <p:spPr>
              <a:xfrm>
                <a:off x="32323917" y="17419171"/>
                <a:ext cx="10936023" cy="6116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4000" b="1" i="0" u="sng" strike="noStrike" dirty="0">
                    <a:effectLst/>
                    <a:latin typeface="Söhne"/>
                  </a:rPr>
                  <a:t>Conclusion</a:t>
                </a: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b="0" i="0" u="none" strike="noStrike" dirty="0">
                    <a:effectLst/>
                    <a:latin typeface="Söhne"/>
                  </a:rPr>
                  <a:t> Initial BMI, Factor 10, and education are significant at the 5% significance level.</a:t>
                </a:r>
              </a:p>
              <a:p>
                <a:pPr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b="0" i="0" u="none" strike="noStrike" dirty="0">
                    <a:effectLst/>
                    <a:latin typeface="KaTeX_Main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u="none" strike="noStrike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u="none" strike="noStrike" smtClean="0"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600" b="0" i="1" u="none" strike="noStrike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b="0" i="0" u="none" strike="noStrike" dirty="0">
                    <a:effectLst/>
                    <a:latin typeface="KaTeX_Main"/>
                  </a:rPr>
                  <a:t>= 0.957</a:t>
                </a:r>
                <a:r>
                  <a:rPr lang="en-US" sz="3600" b="0" i="0" u="none" strike="noStrike" dirty="0">
                    <a:effectLst/>
                    <a:latin typeface="Söhne"/>
                  </a:rPr>
                  <a:t> indicates that 95.7% of the variability in gestational age at the final visit is explained by the predictors included in the model.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600" b="0" i="0" u="none" strike="noStrike" dirty="0">
                    <a:effectLst/>
                    <a:latin typeface="Söhne"/>
                  </a:rPr>
                  <a:t>. </a:t>
                </a:r>
                <a:endParaRPr lang="en-US" sz="3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E787A5-F606-12CC-8C74-7961E102B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3917" y="17419171"/>
                <a:ext cx="10936023" cy="6116354"/>
              </a:xfrm>
              <a:prstGeom prst="rect">
                <a:avLst/>
              </a:prstGeom>
              <a:blipFill>
                <a:blip r:embed="rId15"/>
                <a:stretch>
                  <a:fillRect l="-1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C32F4BC2-8552-97EA-67AF-1AAB1FD15DE1}"/>
              </a:ext>
            </a:extLst>
          </p:cNvPr>
          <p:cNvSpPr txBox="1"/>
          <p:nvPr/>
        </p:nvSpPr>
        <p:spPr>
          <a:xfrm>
            <a:off x="32323917" y="9269292"/>
            <a:ext cx="10626017" cy="7485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When t1bmi increases by 1 unit, gestation age at final visit would be 1.092 weeks longer, highly significant (p &lt; 0.000).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When education increases by 1 unit, gestation age at final visit would be 3.786 weeks longer, highly significant (p = 0.000).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effectLst/>
                <a:latin typeface="Söhne"/>
              </a:rPr>
              <a:t> When Factor10 increases by 1 unit, gestation age at final visit would be 0.861 weeks longer, significant (p = 0.016).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BEAFF32-3DF3-7885-649C-8BBBB7700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879247"/>
              </p:ext>
            </p:extLst>
          </p:nvPr>
        </p:nvGraphicFramePr>
        <p:xfrm>
          <a:off x="32501558" y="3442770"/>
          <a:ext cx="10936021" cy="53311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69370">
                  <a:extLst>
                    <a:ext uri="{9D8B030D-6E8A-4147-A177-3AD203B41FA5}">
                      <a16:colId xmlns:a16="http://schemas.microsoft.com/office/drawing/2014/main" val="1904075827"/>
                    </a:ext>
                  </a:extLst>
                </a:gridCol>
                <a:gridCol w="2269370">
                  <a:extLst>
                    <a:ext uri="{9D8B030D-6E8A-4147-A177-3AD203B41FA5}">
                      <a16:colId xmlns:a16="http://schemas.microsoft.com/office/drawing/2014/main" val="2964954799"/>
                    </a:ext>
                  </a:extLst>
                </a:gridCol>
                <a:gridCol w="2269370">
                  <a:extLst>
                    <a:ext uri="{9D8B030D-6E8A-4147-A177-3AD203B41FA5}">
                      <a16:colId xmlns:a16="http://schemas.microsoft.com/office/drawing/2014/main" val="1098846896"/>
                    </a:ext>
                  </a:extLst>
                </a:gridCol>
                <a:gridCol w="2269370">
                  <a:extLst>
                    <a:ext uri="{9D8B030D-6E8A-4147-A177-3AD203B41FA5}">
                      <a16:colId xmlns:a16="http://schemas.microsoft.com/office/drawing/2014/main" val="2187425290"/>
                    </a:ext>
                  </a:extLst>
                </a:gridCol>
                <a:gridCol w="1858541">
                  <a:extLst>
                    <a:ext uri="{9D8B030D-6E8A-4147-A177-3AD203B41FA5}">
                      <a16:colId xmlns:a16="http://schemas.microsoft.com/office/drawing/2014/main" val="1428382817"/>
                    </a:ext>
                  </a:extLst>
                </a:gridCol>
              </a:tblGrid>
              <a:tr h="1332787">
                <a:tc>
                  <a:txBody>
                    <a:bodyPr/>
                    <a:lstStyle/>
                    <a:p>
                      <a:pPr marL="0" marR="0" lvl="0" indent="0" algn="l" defTabSz="3291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Predictor</a:t>
                      </a:r>
                    </a:p>
                    <a:p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291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Coefficient</a:t>
                      </a:r>
                    </a:p>
                    <a:p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291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P-value</a:t>
                      </a:r>
                    </a:p>
                    <a:p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42160"/>
                  </a:ext>
                </a:extLst>
              </a:tr>
              <a:tr h="1332787">
                <a:tc>
                  <a:txBody>
                    <a:bodyPr/>
                    <a:lstStyle/>
                    <a:p>
                      <a:pPr marL="0" marR="0" lvl="0" indent="0" algn="l" defTabSz="3291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t1bmi </a:t>
                      </a:r>
                    </a:p>
                    <a:p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291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1.092</a:t>
                      </a:r>
                    </a:p>
                    <a:p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03683"/>
                  </a:ext>
                </a:extLst>
              </a:tr>
              <a:tr h="1332787">
                <a:tc>
                  <a:txBody>
                    <a:bodyPr/>
                    <a:lstStyle/>
                    <a:p>
                      <a:pPr marL="0" marR="0" lvl="0" indent="0" algn="l" defTabSz="3291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</a:t>
                      </a:r>
                    </a:p>
                    <a:p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021312"/>
                  </a:ext>
                </a:extLst>
              </a:tr>
              <a:tr h="1332787">
                <a:tc>
                  <a:txBody>
                    <a:bodyPr/>
                    <a:lstStyle/>
                    <a:p>
                      <a:pPr marL="0" marR="0" lvl="0" indent="0" algn="l" defTabSz="3291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Factor10</a:t>
                      </a:r>
                    </a:p>
                    <a:p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2918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0.861</a:t>
                      </a:r>
                    </a:p>
                    <a:p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291843"/>
                  </a:ext>
                </a:extLst>
              </a:tr>
            </a:tbl>
          </a:graphicData>
        </a:graphic>
      </p:graphicFrame>
      <p:pic>
        <p:nvPicPr>
          <p:cNvPr id="1030" name="Picture 6">
            <a:extLst>
              <a:ext uri="{FF2B5EF4-FFF2-40B4-BE49-F238E27FC236}">
                <a16:creationId xmlns:a16="http://schemas.microsoft.com/office/drawing/2014/main" id="{6994619D-93CA-7F79-D338-9960733C6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2144" y="22238"/>
            <a:ext cx="10098065" cy="287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648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6269</TotalTime>
  <Words>880</Words>
  <Application>Microsoft Macintosh PowerPoint</Application>
  <PresentationFormat>Custom</PresentationFormat>
  <Paragraphs>114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Adelle Sans Devanagari</vt:lpstr>
      <vt:lpstr>Arial</vt:lpstr>
      <vt:lpstr>Calibri</vt:lpstr>
      <vt:lpstr>Calibri Light</vt:lpstr>
      <vt:lpstr>Cambria Math</vt:lpstr>
      <vt:lpstr>KaTeX_Main</vt:lpstr>
      <vt:lpstr>KaTeX_Math</vt:lpstr>
      <vt:lpstr>Söhne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 Bedu-Osei Jr</dc:creator>
  <cp:lastModifiedBy>Paul Bedu-Osei</cp:lastModifiedBy>
  <cp:revision>30</cp:revision>
  <cp:lastPrinted>2024-05-01T20:04:58Z</cp:lastPrinted>
  <dcterms:created xsi:type="dcterms:W3CDTF">2024-04-24T16:26:08Z</dcterms:created>
  <dcterms:modified xsi:type="dcterms:W3CDTF">2025-07-07T16:58:29Z</dcterms:modified>
</cp:coreProperties>
</file>